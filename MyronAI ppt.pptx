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6667500" cy="3810000"/>
  <p:notesSz cx="6858000" cy="9144000"/>
  <p:embeddedFontLst>
    <p:embeddedFont>
      <p:font typeface="Canva Sans Bold" charset="1" panose="020B0803030501040103"/>
      <p:regular r:id="rId7"/>
    </p:embeddedFont>
    <p:embeddedFont>
      <p:font typeface="Canva Sans" charset="1" panose="020B0503030501040103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6919" y="206375"/>
            <a:ext cx="3333663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true" sz="10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Document Extraction and Validation on Myron AI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627151" y="1690086"/>
            <a:ext cx="0" cy="50350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" id="4"/>
          <p:cNvSpPr/>
          <p:nvPr/>
        </p:nvSpPr>
        <p:spPr>
          <a:xfrm>
            <a:off x="3331209" y="2465628"/>
            <a:ext cx="59570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" id="5"/>
          <p:cNvSpPr/>
          <p:nvPr/>
        </p:nvSpPr>
        <p:spPr>
          <a:xfrm>
            <a:off x="972356" y="2470390"/>
            <a:ext cx="34457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81000" y="2239492"/>
            <a:ext cx="457164" cy="300897"/>
          </a:xfrm>
          <a:custGeom>
            <a:avLst/>
            <a:gdLst/>
            <a:ahLst/>
            <a:cxnLst/>
            <a:rect r="r" b="b" t="t" l="l"/>
            <a:pathLst>
              <a:path h="300897" w="457164">
                <a:moveTo>
                  <a:pt x="0" y="0"/>
                </a:moveTo>
                <a:lnTo>
                  <a:pt x="457164" y="0"/>
                </a:lnTo>
                <a:lnTo>
                  <a:pt x="457164" y="300897"/>
                </a:lnTo>
                <a:lnTo>
                  <a:pt x="0" y="300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0278" y="2239492"/>
            <a:ext cx="398889" cy="323463"/>
          </a:xfrm>
          <a:custGeom>
            <a:avLst/>
            <a:gdLst/>
            <a:ahLst/>
            <a:cxnLst/>
            <a:rect r="r" b="b" t="t" l="l"/>
            <a:pathLst>
              <a:path h="323463" w="398889">
                <a:moveTo>
                  <a:pt x="0" y="0"/>
                </a:moveTo>
                <a:lnTo>
                  <a:pt x="398889" y="0"/>
                </a:lnTo>
                <a:lnTo>
                  <a:pt x="398889" y="323463"/>
                </a:lnTo>
                <a:lnTo>
                  <a:pt x="0" y="323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1703351" y="1690086"/>
            <a:ext cx="0" cy="50350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568900" y="2213717"/>
            <a:ext cx="392632" cy="298400"/>
          </a:xfrm>
          <a:custGeom>
            <a:avLst/>
            <a:gdLst/>
            <a:ahLst/>
            <a:cxnLst/>
            <a:rect r="r" b="b" t="t" l="l"/>
            <a:pathLst>
              <a:path h="298400" w="392632">
                <a:moveTo>
                  <a:pt x="0" y="0"/>
                </a:moveTo>
                <a:lnTo>
                  <a:pt x="392632" y="0"/>
                </a:lnTo>
                <a:lnTo>
                  <a:pt x="392632" y="298400"/>
                </a:lnTo>
                <a:lnTo>
                  <a:pt x="0" y="298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5452789" y="2461476"/>
            <a:ext cx="34457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72845" y="749321"/>
            <a:ext cx="392679" cy="392679"/>
          </a:xfrm>
          <a:custGeom>
            <a:avLst/>
            <a:gdLst/>
            <a:ahLst/>
            <a:cxnLst/>
            <a:rect r="r" b="b" t="t" l="l"/>
            <a:pathLst>
              <a:path h="392679" w="392679">
                <a:moveTo>
                  <a:pt x="0" y="0"/>
                </a:moveTo>
                <a:lnTo>
                  <a:pt x="392679" y="0"/>
                </a:lnTo>
                <a:lnTo>
                  <a:pt x="392679" y="392679"/>
                </a:lnTo>
                <a:lnTo>
                  <a:pt x="0" y="3926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69664" y="2705631"/>
            <a:ext cx="1061545" cy="355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427" indent="-57213" lvl="1">
              <a:lnSpc>
                <a:spcPts val="741"/>
              </a:lnSpc>
              <a:buFont typeface="Arial"/>
              <a:buChar char="•"/>
            </a:pPr>
            <a:r>
              <a:rPr lang="en-US" sz="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Set of </a:t>
            </a:r>
            <a:r>
              <a:rPr lang="en-US" b="true" sz="5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rules</a:t>
            </a:r>
            <a:r>
              <a:rPr lang="en-US" sz="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pulled from the database having all the rules.</a:t>
            </a:r>
          </a:p>
          <a:p>
            <a:pPr algn="l" marL="114427" indent="-57213" lvl="1">
              <a:lnSpc>
                <a:spcPts val="741"/>
              </a:lnSpc>
              <a:buFont typeface="Arial"/>
              <a:buChar char="•"/>
            </a:pPr>
            <a:r>
              <a:rPr lang="en-US" b="true" sz="5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changes</a:t>
            </a:r>
            <a:r>
              <a:rPr lang="en-US" sz="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made to the rules stored in the </a:t>
            </a:r>
            <a:r>
              <a:rPr lang="en-US" b="true" sz="5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7785" y="2581486"/>
            <a:ext cx="223594" cy="11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  <a:spcBef>
                <a:spcPct val="0"/>
              </a:spcBef>
            </a:pPr>
            <a:r>
              <a:rPr lang="en-US" b="true" sz="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7409" y="2720946"/>
            <a:ext cx="869659" cy="26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427" indent="-57213" lvl="1">
              <a:lnSpc>
                <a:spcPts val="741"/>
              </a:lnSpc>
              <a:buFont typeface="Arial"/>
              <a:buChar char="•"/>
            </a:pPr>
            <a:r>
              <a:rPr lang="en-US" sz="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Uploads PDF for validation against rules.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9202" y="2585833"/>
            <a:ext cx="359965" cy="9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5"/>
              </a:lnSpc>
              <a:spcBef>
                <a:spcPct val="0"/>
              </a:spcBef>
            </a:pPr>
            <a:r>
              <a:rPr lang="en-US" b="true" sz="6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4139" y="1180100"/>
            <a:ext cx="1078424" cy="22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</a:pPr>
            <a:r>
              <a:rPr lang="en-US" sz="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Myron AI workflow 1 - </a:t>
            </a:r>
          </a:p>
          <a:p>
            <a:pPr algn="ctr">
              <a:lnSpc>
                <a:spcPts val="979"/>
              </a:lnSpc>
              <a:spcBef>
                <a:spcPct val="0"/>
              </a:spcBef>
            </a:pPr>
            <a:r>
              <a:rPr lang="en-US" b="true" sz="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Pdf Upload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1858" y="1912626"/>
            <a:ext cx="417416" cy="11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  <a:spcBef>
                <a:spcPct val="0"/>
              </a:spcBef>
            </a:pPr>
            <a:r>
              <a:rPr lang="en-US" b="true" sz="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 Call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74789" y="1794093"/>
            <a:ext cx="494875" cy="347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  <a:spcBef>
                <a:spcPct val="0"/>
              </a:spcBef>
            </a:pPr>
            <a:r>
              <a:rPr lang="en-US" b="true" sz="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Uploads and Activates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1646" y="1424784"/>
            <a:ext cx="1110917" cy="26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427" indent="-57213" lvl="1">
              <a:lnSpc>
                <a:spcPts val="741"/>
              </a:lnSpc>
              <a:buFont typeface="Arial"/>
              <a:buChar char="•"/>
            </a:pPr>
            <a:r>
              <a:rPr lang="en-US" sz="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Activates the uploaded document  for downstream analysis.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14849" y="2561594"/>
            <a:ext cx="737494" cy="9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5"/>
              </a:lnSpc>
              <a:spcBef>
                <a:spcPct val="0"/>
              </a:spcBef>
            </a:pPr>
            <a:r>
              <a:rPr lang="en-US" b="true" sz="6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03540" y="2342308"/>
            <a:ext cx="494875" cy="22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  <a:spcBef>
                <a:spcPct val="0"/>
              </a:spcBef>
            </a:pPr>
            <a:r>
              <a:rPr lang="en-US" b="true" sz="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Run Analysis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69785" y="2173499"/>
            <a:ext cx="1078424" cy="22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  <a:spcBef>
                <a:spcPct val="0"/>
              </a:spcBef>
            </a:pPr>
            <a:r>
              <a:rPr lang="en-US" b="true" sz="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Myron AI workflow 2 - PDFRemittance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01802" y="2429491"/>
            <a:ext cx="1061545" cy="62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427" indent="-57213" lvl="1">
              <a:lnSpc>
                <a:spcPts val="741"/>
              </a:lnSpc>
              <a:buFont typeface="Arial"/>
              <a:buChar char="•"/>
            </a:pPr>
            <a:r>
              <a:rPr lang="en-US" b="true" sz="5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RAG that Validates</a:t>
            </a:r>
            <a:r>
              <a:rPr lang="en-US" sz="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uploaded </a:t>
            </a:r>
            <a:r>
              <a:rPr lang="en-US" b="true" sz="5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Remittance PDF</a:t>
            </a:r>
            <a:r>
              <a:rPr lang="en-US" sz="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against </a:t>
            </a:r>
            <a:r>
              <a:rPr lang="en-US" b="true" sz="5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runtime provided rules</a:t>
            </a:r>
            <a:r>
              <a:rPr lang="en-US" sz="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114427" indent="-57213" lvl="1">
              <a:lnSpc>
                <a:spcPts val="741"/>
              </a:lnSpc>
              <a:buFont typeface="Arial"/>
              <a:buChar char="•"/>
            </a:pPr>
            <a:r>
              <a:rPr lang="en-US" sz="5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Returns one strict JSON response with </a:t>
            </a:r>
            <a:r>
              <a:rPr lang="en-US" b="true" sz="52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passed/failed/review rules.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97360" y="2287193"/>
            <a:ext cx="494875" cy="347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  <a:spcBef>
                <a:spcPct val="0"/>
              </a:spcBef>
            </a:pPr>
            <a:r>
              <a:rPr lang="en-US" b="true" sz="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Report generated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4412657" y="1741189"/>
            <a:ext cx="392679" cy="392679"/>
          </a:xfrm>
          <a:custGeom>
            <a:avLst/>
            <a:gdLst/>
            <a:ahLst/>
            <a:cxnLst/>
            <a:rect r="r" b="b" t="t" l="l"/>
            <a:pathLst>
              <a:path h="392679" w="392679">
                <a:moveTo>
                  <a:pt x="0" y="0"/>
                </a:moveTo>
                <a:lnTo>
                  <a:pt x="392680" y="0"/>
                </a:lnTo>
                <a:lnTo>
                  <a:pt x="392680" y="392680"/>
                </a:lnTo>
                <a:lnTo>
                  <a:pt x="0" y="3926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DAHGQQlZxdA</dc:identifier>
  <dcterms:modified xsi:type="dcterms:W3CDTF">2011-08-01T06:04:30Z</dcterms:modified>
  <cp:revision>1</cp:revision>
  <dc:title>CTW Diagram</dc:title>
</cp:coreProperties>
</file>